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Monitoring Infrastruktur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0C8E8"/>
                </a:solidFill>
                <a:latin typeface="Calibri"/>
              </a:rPr>
              <a:t>dengan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822960" cy="25603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7614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743200"/>
            <a:ext cx="1188720" cy="256032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9072" y="27614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2743200"/>
            <a:ext cx="91440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76148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743200"/>
            <a:ext cx="1005840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6512" y="27614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cAdvisor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2743200"/>
            <a:ext cx="1463040" cy="256032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2" y="27614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Node Exporter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90B0"/>
                </a:solidFill>
                <a:latin typeface="Calibri"/>
              </a:rPr>
              <a:t>Mata Kuliah: Sistem Terdistribusi /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80A0"/>
                </a:solidFill>
                <a:latin typeface="Calibri"/>
              </a:rPr>
              <a:t>Sistem Operasi · Semester Genap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1371600"/>
            <a:ext cx="1645920" cy="3200400"/>
          </a:xfrm>
          <a:prstGeom prst="rect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1645920"/>
            <a:ext cx="1463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A3A"/>
                </a:solidFill>
                <a:latin typeface="Calibri"/>
              </a:rPr>
              <a:t>📊
🐳
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Apa yang akan kita pelajari hari ini?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86868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D4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73736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A"/>
                </a:solidFill>
                <a:latin typeface="Calibri"/>
              </a:rPr>
              <a:t>Kenapa Monitoring Itu Penting?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303520" cy="86868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432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D4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83464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A"/>
                </a:solidFill>
                <a:latin typeface="Calibri"/>
              </a:rPr>
              <a:t>Arsitektur Stack — Gambaran Besar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5303520" cy="86868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404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D4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3192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A"/>
                </a:solidFill>
                <a:latin typeface="Calibri"/>
              </a:rPr>
              <a:t>Mengenal Setiap Komponen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5303520" cy="86868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9377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8BD4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502920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A"/>
                </a:solidFill>
                <a:latin typeface="Calibri"/>
              </a:rPr>
              <a:t>Alur Data (Pull Model)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554480"/>
            <a:ext cx="5303520" cy="86868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16459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6A3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73736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A"/>
                </a:solidFill>
                <a:latin typeface="Calibri"/>
              </a:rPr>
              <a:t>Docker Compose — Implementasi Lengkap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51760"/>
            <a:ext cx="5303520" cy="86868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7432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6A3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83464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A"/>
                </a:solidFill>
                <a:latin typeface="Calibri"/>
              </a:rPr>
              <a:t>PromQL — Bahasa Query Prometheus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749040"/>
            <a:ext cx="5303520" cy="86868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38404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6A3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393192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A"/>
                </a:solidFill>
                <a:latin typeface="Calibri"/>
              </a:rPr>
              <a:t>Membuat Dashboard Grafana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846320"/>
            <a:ext cx="5303520" cy="86868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49377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6A3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502920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3A"/>
                </a:solidFill>
                <a:latin typeface="Calibri"/>
              </a:rPr>
              <a:t>Demo &amp; Hands-on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Kenapa Monitoring Itu Wajib?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7548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❌  Tanpa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Server down → tau dari komplain user</a:t>
            </a:r>
          </a:p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Memory leak → performa turun pelan-pelan</a:t>
            </a:r>
          </a:p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Disk penuh → aplikasi crash mendadak</a:t>
            </a:r>
          </a:p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Tidak ada data untuk investigasi</a:t>
            </a:r>
          </a:p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Debugging seperti main tebak-tebakan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5760720" cy="4754880"/>
          </a:xfrm>
          <a:prstGeom prst="rect">
            <a:avLst/>
          </a:prstGeom>
          <a:solidFill>
            <a:srgbClr val="E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✅  Dengan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Deteksi anomali sebelum user merasakan</a:t>
            </a:r>
          </a:p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Alert otomatis ke Slack / email / PD</a:t>
            </a:r>
          </a:p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Analisis tren — prediksi kapasitas</a:t>
            </a:r>
          </a:p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Data lengkap untuk root cause analysis</a:t>
            </a:r>
          </a:p>
          <a:p>
            <a:pPr>
              <a:spcBef>
                <a:spcPts val="160"/>
              </a:spcBef>
            </a:pPr>
            <a:r>
              <a:rPr sz="1450">
                <a:solidFill>
                  <a:srgbClr val="1E2A3A"/>
                </a:solidFill>
                <a:latin typeface="Calibri"/>
              </a:rPr>
              <a:t>SLA &amp; SLO bisa dibuktikan dengan angka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A6A7A"/>
                </a:solidFill>
                <a:latin typeface="Calibri"/>
              </a:rPr>
              <a:t>"You can't improve what you don't measure."  — Peter Drucker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Arsitektur Stack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Gambaran besar sebelum masuk ke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77440"/>
            <a:ext cx="2194560" cy="100584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Your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EFF"/>
                </a:solidFill>
                <a:latin typeface="Calibri"/>
              </a:rPr>
              <a:t>Containers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645920"/>
            <a:ext cx="2194560" cy="1005840"/>
          </a:xfrm>
          <a:prstGeom prst="rect">
            <a:avLst/>
          </a:prstGeom>
          <a:solidFill>
            <a:srgbClr val="1A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7373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94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EFF"/>
                </a:solidFill>
                <a:latin typeface="Calibri"/>
              </a:rPr>
              <a:t>port 8080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840480"/>
            <a:ext cx="2194560" cy="1005840"/>
          </a:xfrm>
          <a:prstGeom prst="rect">
            <a:avLst/>
          </a:prstGeom>
          <a:solidFill>
            <a:srgbClr val="1A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9319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Node Exporter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389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EFF"/>
                </a:solidFill>
                <a:latin typeface="Calibri"/>
              </a:rPr>
              <a:t>port 9100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743200"/>
            <a:ext cx="2468880" cy="100584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2834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291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EFF"/>
                </a:solidFill>
                <a:latin typeface="Calibri"/>
              </a:rPr>
              <a:t>port 9090 · TSDB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743200"/>
            <a:ext cx="2468880" cy="100584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834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291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EFF"/>
                </a:solidFill>
                <a:latin typeface="Calibri"/>
              </a:rPr>
              <a:t>port 3000 · 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1828800"/>
            <a:ext cx="320040" cy="190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15087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  <a:latin typeface="Calibri"/>
              </a:rPr>
              <a:t>container
stats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4023360"/>
            <a:ext cx="320040" cy="190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7033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  <a:latin typeface="Calibri"/>
              </a:rPr>
              <a:t>host
stats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60" y="2103120"/>
            <a:ext cx="594360" cy="190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7830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  <a:latin typeface="Calibri"/>
              </a:rPr>
              <a:t>scrape
15s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66360" y="4251960"/>
            <a:ext cx="594360" cy="190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9319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  <a:latin typeface="Calibri"/>
              </a:rPr>
              <a:t>scrape
15s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246120"/>
            <a:ext cx="777240" cy="1905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9260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6A7A"/>
                </a:solidFill>
                <a:latin typeface="Calibri"/>
              </a:rPr>
              <a:t>PromQL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BD4"/>
                </a:solidFill>
                <a:latin typeface="Calibri"/>
              </a:rPr>
              <a:t>← PULL MODEL: Prometheus yang aktif menarik data, bukan exporter yang push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cAdvisor vs Node Exporter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Dua exporter, dua scope yang berbeda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493776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486400" cy="685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🐳  cAdvisor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6A7A"/>
                </a:solidFill>
                <a:latin typeface="Calibri"/>
              </a:rPr>
              <a:t>Container-level metrics · port 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• Dibuat oleh Google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7296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• Monitor resource per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3989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• Butuh akses ke /var/run/docker.sock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06824"/>
            <a:ext cx="5212080" cy="47548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525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A8"/>
                </a:solidFill>
                <a:latin typeface="Consolas"/>
              </a:rPr>
              <a:t>container_cpu_usage_seconds_total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73752"/>
            <a:ext cx="5212080" cy="47548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9194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A8"/>
                </a:solidFill>
                <a:latin typeface="Consolas"/>
              </a:rPr>
              <a:t>container_memory_usage_bytes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40680"/>
            <a:ext cx="5212080" cy="47548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A8"/>
                </a:solidFill>
                <a:latin typeface="Consolas"/>
              </a:rPr>
              <a:t>container_network_transmit_bytes_total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486400" cy="4937760"/>
          </a:xfrm>
          <a:prstGeom prst="rect">
            <a:avLst/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463040"/>
            <a:ext cx="5486400" cy="68580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52704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🖥️  Node Exporter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128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A6A7A"/>
                </a:solidFill>
                <a:latin typeface="Calibri"/>
              </a:rPr>
              <a:t>Host/OS-level metrics · port 9100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40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• Dibuat oleh Prometheus community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72968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• Monitor seluruh host (bukan per container)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3989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• Mount /proc dan /sys dari host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306824"/>
            <a:ext cx="5212080" cy="47548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3525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A8"/>
                </a:solidFill>
                <a:latin typeface="Consolas"/>
              </a:rPr>
              <a:t>node_cpu_seconds_total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873752"/>
            <a:ext cx="5212080" cy="47548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49194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A8"/>
                </a:solidFill>
                <a:latin typeface="Consolas"/>
              </a:rPr>
              <a:t>node_memory_MemAvailable_bytes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5440680"/>
            <a:ext cx="5212080" cy="47548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A8"/>
                </a:solidFill>
                <a:latin typeface="Consolas"/>
              </a:rPr>
              <a:t>node_filesystem_avail_bytes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Prometheus — Time-Series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Jantung dari stack monitoring 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D4"/>
                </a:solidFill>
                <a:latin typeface="Calibri"/>
              </a:rPr>
              <a:t>Cara Kerja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029200" cy="1905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411480" cy="41148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4825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Scrape  →  GET /metrics ke semua target setiap 15 detik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411480" cy="41148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346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7121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Store   →  Simpan sebagai time-series di local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411480" cy="41148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576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9417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Query   →  Akses data via PromQL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80560"/>
            <a:ext cx="411480" cy="41148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480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171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E2A3A"/>
                </a:solidFill>
                <a:latin typeface="Calibri"/>
              </a:rPr>
              <a:t>Alert   →  Evaluasi rules, kirim ke Alertmanager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14630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6A35"/>
                </a:solidFill>
                <a:latin typeface="Calibri"/>
              </a:rPr>
              <a:t>prometheus.yml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1874519"/>
            <a:ext cx="5852160" cy="1905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0" y="1965960"/>
            <a:ext cx="5943600" cy="41148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0" y="1965960"/>
            <a:ext cx="50800" cy="4114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9960" y="2067560"/>
            <a:ext cx="5689600" cy="396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A8"/>
                </a:solidFill>
                <a:latin typeface="Consolas"/>
              </a:rPr>
              <a:t>global: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  scrape_interval: 15s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  evaluation_interval: 15s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scrape_configs: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  - job_name: 'node-exporter'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    static_configs: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      - targets: ['node-exporter:9100']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/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  - job_name: 'cadvisor'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    static_configs: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      - targets: ['cadvisor:8080']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6172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6A35"/>
                </a:solidFill>
                <a:latin typeface="Calibri"/>
              </a:rPr>
              <a:t>⚠  Gunakan nama SERVICE Docker, bukan localhost!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Grafana — Platform Visualisasi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Tempat semua data metrics menjadi cerita yang bisa dibaca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566160" cy="1965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3566160" cy="3657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Time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Data berubah seiring waktu
CPU, RAM, network traffic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600200"/>
            <a:ext cx="3566160" cy="1965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00200"/>
            <a:ext cx="3566160" cy="36576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Gauge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574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Nilai saat ini dalam (%)
Disk usage, RAM 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3566160" cy="1965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00200"/>
            <a:ext cx="35661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Satu angka besar &amp;
mencolok — uptime, total container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3566160" cy="1965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3566160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Bar Chart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Perbandingan antar
container /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886200"/>
            <a:ext cx="3566160" cy="1965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886200"/>
            <a:ext cx="3566160" cy="36576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3434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Banyak metric
sekaligus dalam tabel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86200"/>
            <a:ext cx="3566160" cy="1965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886200"/>
            <a:ext cx="356616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Heatmap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434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Distribusi nilai —
latency, response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6A7A"/>
                </a:solidFill>
                <a:latin typeface="Calibri"/>
              </a:rPr>
              <a:t>Login default → admin / admin123   |   port 3000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Docker Compose — Satu File, Semua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Infrastruktur sebagai kode (IaC)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D4"/>
                </a:solidFill>
                <a:latin typeface="Calibri"/>
              </a:rPr>
              <a:t>Struktur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03520" cy="3749039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0800" cy="3749039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560" y="2021840"/>
            <a:ext cx="5049520" cy="3596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A8D8A8"/>
                </a:solidFill>
                <a:latin typeface="Consolas"/>
              </a:rPr>
              <a:t>monitoring-stack/</a:t>
            </a:r>
          </a:p>
          <a:p>
            <a:r>
              <a:rPr sz="1150">
                <a:solidFill>
                  <a:srgbClr val="A8D8A8"/>
                </a:solidFill>
                <a:latin typeface="Consolas"/>
              </a:rPr>
              <a:t>├── docker-compose.yml</a:t>
            </a:r>
          </a:p>
          <a:p>
            <a:r>
              <a:rPr sz="1150">
                <a:solidFill>
                  <a:srgbClr val="A8D8A8"/>
                </a:solidFill>
                <a:latin typeface="Consolas"/>
              </a:rPr>
              <a:t>├── prometheus/</a:t>
            </a:r>
          </a:p>
          <a:p>
            <a:r>
              <a:rPr sz="1150">
                <a:solidFill>
                  <a:srgbClr val="A8D8A8"/>
                </a:solidFill>
                <a:latin typeface="Consolas"/>
              </a:rPr>
              <a:t>│   └── prometheus.yml</a:t>
            </a:r>
          </a:p>
          <a:p>
            <a:r>
              <a:rPr sz="1150">
                <a:solidFill>
                  <a:srgbClr val="A8D8A8"/>
                </a:solidFill>
                <a:latin typeface="Consolas"/>
              </a:rPr>
              <a:t>└── grafana/</a:t>
            </a:r>
          </a:p>
          <a:p>
            <a:r>
              <a:rPr sz="1150">
                <a:solidFill>
                  <a:srgbClr val="A8D8A8"/>
                </a:solidFill>
                <a:latin typeface="Consolas"/>
              </a:rPr>
              <a:t>    └── provisioning/</a:t>
            </a:r>
          </a:p>
          <a:p>
            <a:r>
              <a:rPr sz="1150">
                <a:solidFill>
                  <a:srgbClr val="A8D8A8"/>
                </a:solidFill>
                <a:latin typeface="Consolas"/>
              </a:rPr>
              <a:t>        ├── datasources/</a:t>
            </a:r>
          </a:p>
          <a:p>
            <a:r>
              <a:rPr sz="1150">
                <a:solidFill>
                  <a:srgbClr val="A8D8A8"/>
                </a:solidFill>
                <a:latin typeface="Consolas"/>
              </a:rPr>
              <a:t>        │   └── prometheus.yml</a:t>
            </a:r>
          </a:p>
          <a:p>
            <a:r>
              <a:rPr sz="1150">
                <a:solidFill>
                  <a:srgbClr val="A8D8A8"/>
                </a:solidFill>
                <a:latin typeface="Consolas"/>
              </a:rPr>
              <a:t>        └── dashboards/</a:t>
            </a:r>
          </a:p>
          <a:p>
            <a:r>
              <a:rPr sz="1150">
                <a:solidFill>
                  <a:srgbClr val="A8D8A8"/>
                </a:solidFill>
                <a:latin typeface="Consolas"/>
              </a:rPr>
              <a:t>            └── dashboard.yml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6A35"/>
                </a:solidFill>
                <a:latin typeface="Calibri"/>
              </a:rPr>
              <a:t>Konsep Penting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74519"/>
            <a:ext cx="5760720" cy="1905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2057400"/>
            <a:ext cx="576072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1305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4"/>
                </a:solidFill>
                <a:latin typeface="Consolas"/>
              </a:rPr>
              <a:t>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488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A3A"/>
                </a:solidFill>
                <a:latin typeface="Calibri"/>
              </a:rPr>
              <a:t>Definisi setiap container (image, port, volume, network)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063240"/>
            <a:ext cx="576072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1363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4"/>
                </a:solidFill>
                <a:latin typeface="Consolas"/>
              </a:rPr>
              <a:t>networks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15468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A3A"/>
                </a:solidFill>
                <a:latin typeface="Calibri"/>
              </a:rPr>
              <a:t>Jaringan virtual — container saling kenal via nama 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069080"/>
            <a:ext cx="576072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142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4"/>
                </a:solidFill>
                <a:latin typeface="Consolas"/>
              </a:rPr>
              <a:t>volumes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1605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A3A"/>
                </a:solidFill>
                <a:latin typeface="Calibri"/>
              </a:rPr>
              <a:t>Penyimpanan persisten — data tidak hilang saat container restart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074920"/>
            <a:ext cx="5760720" cy="868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51480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D4"/>
                </a:solidFill>
                <a:latin typeface="Consolas"/>
              </a:rPr>
              <a:t>depends_on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16636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A3A"/>
                </a:solidFill>
                <a:latin typeface="Calibri"/>
              </a:rPr>
              <a:t>Urutan start container — Grafana tunggu Prometheus dulu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9893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onsolas"/>
              </a:rPr>
              <a:t>docker compose up -d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6355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→ satu perintah, semua service langsung jalan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  📄  docker-compose.yml — File Lengkap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594360"/>
            <a:ext cx="384048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86C1E8"/>
                </a:solidFill>
                <a:latin typeface="Consolas"/>
              </a:rPr>
              <a:t>version: '3.8'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networks: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monitoring: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driver: bridge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volumes: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prometheus_data: {}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grafana_data: {}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services: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cadvisor: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image: gcr.io/cadvisor/cadvisor:latest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ports: ["8080:8080"]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volumes: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/:/rootfs:ro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/var/run:/var/run:ro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/sys:/sys:ro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/var/lib/docker/:/var/lib/docker:ro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networks: [monitoring]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39" y="594360"/>
            <a:ext cx="384048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8D8A8"/>
                </a:solidFill>
                <a:latin typeface="Consolas"/>
              </a:rPr>
              <a:t>node-exporter: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image: prom/node-exporter:latest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ports: ["9100:9100"]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volumes: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/proc:/host/proc:ro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/sys:/host/sys:ro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command: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'--path.procfs=/host/proc'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'--path.sysfs=/host/sys'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networks: [monitoring]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prometheus: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image: prom/prometheus:latest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ports: ["9090:9090"]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volumes: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./prometheus/prometheus.yml:/etc/prometheus/prometheus.yml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prometheus_data:/prometheus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command: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'--storage.tsdb.retention.time=15d'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'--web.enable-lifecycle'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networks: [monitoring]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8" y="594360"/>
            <a:ext cx="3840480" cy="6126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8D8A8"/>
                </a:solidFill>
                <a:latin typeface="Consolas"/>
              </a:rPr>
              <a:t>grafana: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image: grafana/grafana:latest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ports: ["3000:3000"]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environment: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GF_SECURITY_ADMIN_USER=admin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GF_SECURITY_ADMIN_PASSWORD=admin123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GF_USERS_ALLOW_SIGN_UP=false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volumes: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grafana_data:/var/lib/grafana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>      - ./grafana/provisioning:/etc/grafana/provisioning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networks: [monitoring]</a:t>
            </a:r>
          </a:p>
          <a:p>
            <a:r>
              <a:rPr sz="1050">
                <a:solidFill>
                  <a:srgbClr val="86C1E8"/>
                </a:solidFill>
                <a:latin typeface="Consolas"/>
              </a:rPr>
              <a:t>    depends_on: [prometheus]</a:t>
            </a:r>
          </a:p>
          <a:p>
            <a:r>
              <a:rPr sz="1050">
                <a:solidFill>
                  <a:srgbClr val="A8D8A8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6A996A"/>
                </a:solidFill>
                <a:latin typeface="Consolas"/>
              </a:rPr>
              <a:t># Jalankan: docker compose up -d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PromQL — Bahasa Query Prometheus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Cara 'bertanya' ke database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D4"/>
                </a:solidFill>
                <a:latin typeface="Calibri"/>
              </a:rPr>
              <a:t>Format Data Time-Series: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1143000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50800" cy="502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3560" y="2021840"/>
            <a:ext cx="11176000" cy="35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D8A8"/>
                </a:solidFill>
                <a:latin typeface="Consolas"/>
              </a:rPr>
              <a:t>metric_name{label1="value1", label2="value2"}  nilai  timestamp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A7A"/>
                </a:solidFill>
                <a:latin typeface="Calibri"/>
              </a:rPr>
              <a:t>Contoh data nyata di Prometheus: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11430000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50800" cy="12344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560" y="3073400"/>
            <a:ext cx="11176000" cy="108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D8A8"/>
                </a:solidFill>
                <a:latin typeface="Consolas"/>
              </a:rPr>
              <a:t>container_memory_usage_bytes{name="nginx",  instance="cadvisor:8080"}  52428800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container_memory_usage_bytes{name="postgres",instance="cadvisor:8080"}  134217728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node_cpu_seconds_total{cpu="0", mode="idle"}  12345.67</a:t>
            </a:r>
          </a:p>
          <a:p>
            <a:r>
              <a:rPr sz="1100">
                <a:solidFill>
                  <a:srgbClr val="A8D8A8"/>
                </a:solidFill>
                <a:latin typeface="Consolas"/>
              </a:rPr>
              <a:t>node_cpu_seconds_total{cpu="0", mode="user"}    234.56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343400"/>
            <a:ext cx="3749039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343400"/>
            <a:ext cx="3749039" cy="3657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389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Instant Vector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773168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Nilai metric pada satu titik waktu.
Bisa langsung di-plot.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650992"/>
            <a:ext cx="356616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650992"/>
            <a:ext cx="50800" cy="502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280" y="5752592"/>
            <a:ext cx="3312160" cy="35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container_memory_usage_bytes{name!=""}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4343400"/>
            <a:ext cx="3749039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4343400"/>
            <a:ext cx="3749039" cy="36576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4389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Range 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773168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Nilai dalam rentang waktu.
WAJIB dibungkus fungsi (rate, avg_over_time).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5650992"/>
            <a:ext cx="356616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5650992"/>
            <a:ext cx="50800" cy="502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1200" y="5752592"/>
            <a:ext cx="3312160" cy="35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container_cpu_usage_seconds_total[5m]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80" y="4343400"/>
            <a:ext cx="3749039" cy="2148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4343400"/>
            <a:ext cx="3749039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4389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Scalar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773168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Satu angka tunggal.
Hasil dari aggregasi.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5650992"/>
            <a:ext cx="3566160" cy="50292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20" y="5650992"/>
            <a:ext cx="50800" cy="50292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3120" y="5752592"/>
            <a:ext cx="3312160" cy="35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count(container_last_seen{name!=""})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Fungsi &amp; Aggregasi PromQL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Toolkit utama yang harus dikuasai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D4"/>
                </a:solidFill>
                <a:latin typeface="Calibri"/>
              </a:rPr>
              <a:t>Fungsi Kalkulasi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03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751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4"/>
                </a:solidFill>
                <a:latin typeface="Consolas"/>
              </a:rPr>
              <a:t>rate(v[d])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Laju perubahan/detik — untuk Counter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5303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98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4"/>
                </a:solidFill>
                <a:latin typeface="Consolas"/>
              </a:rPr>
              <a:t>irate(v[d])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Rate instan, lebih responsif (spiky)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303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210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4"/>
                </a:solidFill>
                <a:latin typeface="Consolas"/>
              </a:rPr>
              <a:t>increase(v[d])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Total kenaikan dalam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5303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43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4"/>
                </a:solidFill>
                <a:latin typeface="Consolas"/>
              </a:rPr>
              <a:t>avg_over_time(v[d])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526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Rata-rata nilai dalam window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12080"/>
            <a:ext cx="5303520" cy="7132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669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D4"/>
                </a:solidFill>
                <a:latin typeface="Consolas"/>
              </a:rPr>
              <a:t>delta(v[d])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Selisih awal-akhir dalam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6A35"/>
                </a:solidFill>
                <a:latin typeface="Calibri"/>
              </a:rPr>
              <a:t>Operator Aggregasi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920240"/>
            <a:ext cx="5760720" cy="59436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011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A35"/>
                </a:solidFill>
                <a:latin typeface="Consolas"/>
              </a:rPr>
              <a:t>sum()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0299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Jumlahkan semua nilai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606040"/>
            <a:ext cx="5760720" cy="59436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6974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A35"/>
                </a:solidFill>
                <a:latin typeface="Consolas"/>
              </a:rPr>
              <a:t>avg()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7157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Rata-rata semua nilai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291840"/>
            <a:ext cx="5760720" cy="59436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3832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A35"/>
                </a:solidFill>
                <a:latin typeface="Consolas"/>
              </a:rPr>
              <a:t>max()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4015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Nilai terbesar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977640"/>
            <a:ext cx="5760720" cy="59436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40690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A35"/>
                </a:solidFill>
                <a:latin typeface="Consolas"/>
              </a:rPr>
              <a:t>min()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0873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Nilai terkecil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4663440"/>
            <a:ext cx="5760720" cy="59436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7548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A35"/>
                </a:solidFill>
                <a:latin typeface="Consolas"/>
              </a:rPr>
              <a:t>count()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7731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Hitung jumlah time-series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5349240"/>
            <a:ext cx="5760720" cy="594360"/>
          </a:xfrm>
          <a:prstGeom prst="rect">
            <a:avLst/>
          </a:prstGeom>
          <a:solidFill>
            <a:srgbClr val="FD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544068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6A35"/>
                </a:solidFill>
                <a:latin typeface="Consolas"/>
              </a:rPr>
              <a:t>topk(n)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4589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Ambil n nilai tertinggi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612648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A7A"/>
                </a:solidFill>
                <a:latin typeface="Calibri"/>
              </a:rPr>
              <a:t>Grouping:  by (label)  dan  without (label)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Query Siap Pakai — CPU &amp;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Copy, paste, sesuaikan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5029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D4"/>
                </a:solidFill>
                <a:latin typeface="Calibri"/>
              </a:rPr>
              <a:t>🔥 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Host — usage persen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50008"/>
            <a:ext cx="5074920" cy="8229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50800" cy="8229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720" y="2451608"/>
            <a:ext cx="4820920" cy="67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100 - (avg by (instance)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(rate(node_cpu_seconds_total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{mode='idle'}[2m])) * 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37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Per container 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75888"/>
            <a:ext cx="5074920" cy="8229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675888"/>
            <a:ext cx="50800" cy="8229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720" y="3777488"/>
            <a:ext cx="4820920" cy="67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sum by (name)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(rate(container_cpu_usage_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seconds_total{name!=''}[5m])) *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Breakdown by 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01768"/>
            <a:ext cx="5074920" cy="8229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001768"/>
            <a:ext cx="50800" cy="8229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720" y="5103368"/>
            <a:ext cx="4820920" cy="67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avg by (mode)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(rate(node_cpu_seconds_total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[5m])) * 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463040"/>
            <a:ext cx="5577840" cy="5029200"/>
          </a:xfrm>
          <a:prstGeom prst="rect">
            <a:avLst/>
          </a:prstGeom>
          <a:solidFill>
            <a:srgbClr val="EEF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5727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🧠 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011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Host — persen terpakai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350008"/>
            <a:ext cx="5257800" cy="8229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350008"/>
            <a:ext cx="50800" cy="8229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2880" y="2451608"/>
            <a:ext cx="5003800" cy="67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(1 - node_memory_MemAvailable_bytes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/ node_memory_MemTotal_bytes) * 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337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Per container (MB)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675888"/>
            <a:ext cx="5257800" cy="8229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675888"/>
            <a:ext cx="50800" cy="8229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2880" y="3777488"/>
            <a:ext cx="5003800" cy="67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container_memory_usage_bytes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{name!=''} / 1024 / 1024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663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Usage vs limit (%)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5001768"/>
            <a:ext cx="5257800" cy="82296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5001768"/>
            <a:ext cx="50800" cy="82296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2880" y="5103368"/>
            <a:ext cx="5003800" cy="67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container_memory_usage_bytes{name!=''}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/ container_spec_memory_limit_bytes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{name!=''} * 100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Query Siap Pakai — Disk &amp;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5029200"/>
          </a:xfrm>
          <a:prstGeom prst="rect">
            <a:avLst/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6A35"/>
                </a:solidFill>
                <a:latin typeface="Calibri"/>
              </a:rPr>
              <a:t>💾  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Ruang tersedia (GB)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50008"/>
            <a:ext cx="5074920" cy="877824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50008"/>
            <a:ext cx="50800" cy="87782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720" y="2451608"/>
            <a:ext cx="4820920" cy="725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node_filesystem_avail_bytes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{mountpoint='/'} / 1024^3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753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Usage persen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13632"/>
            <a:ext cx="5074920" cy="157276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913632"/>
            <a:ext cx="50800" cy="157276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720" y="4015232"/>
            <a:ext cx="4820920" cy="1420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(1 - node_filesystem_avail_bytes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{mountpoint='/'}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/ node_filesystem_size_bytes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{mountpoint='/'}) *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833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Read/Write speed (MB/s)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72200"/>
            <a:ext cx="5074920" cy="157276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6172200"/>
            <a:ext cx="50800" cy="157276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720" y="6273800"/>
            <a:ext cx="4820920" cy="1420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rate(node_disk_read_bytes_total[5m])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/ 1024 / 1024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rate(node_disk_written_bytes_total[5m])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/ 1024 / 1024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5577840" cy="5029200"/>
          </a:xfrm>
          <a:prstGeom prst="rect">
            <a:avLst/>
          </a:prstGeom>
          <a:solidFill>
            <a:srgbClr val="F4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7276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  <a:latin typeface="Calibri"/>
              </a:rPr>
              <a:t>🌐 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Bandwidth host masuk (MB/s)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50008"/>
            <a:ext cx="5257800" cy="877824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2350008"/>
            <a:ext cx="50800" cy="87782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2880" y="2451608"/>
            <a:ext cx="5003800" cy="725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rate(node_network_receive_bytes_total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{device='eth0'}[5m]) / 1024 / 1024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57530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Bandwidth host keluar (MB/s)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913632"/>
            <a:ext cx="5257800" cy="877824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80" y="3913632"/>
            <a:ext cx="50800" cy="87782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2880" y="4015232"/>
            <a:ext cx="5003800" cy="725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rate(node_network_transmit_bytes_total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{device='eth0'}[5m]) / 1024 / 1024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1389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→ Traffic per container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5477256"/>
            <a:ext cx="5257800" cy="1572768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5477256"/>
            <a:ext cx="50800" cy="157276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2880" y="5578856"/>
            <a:ext cx="5003800" cy="1420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D8A8"/>
                </a:solidFill>
                <a:latin typeface="Consolas"/>
              </a:rPr>
              <a:t>rate(container_network_receive_bytes_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total{name!=''}[5m])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rate(container_network_transmit_bytes_</a:t>
            </a:r>
          </a:p>
          <a:p>
            <a:r>
              <a:rPr sz="1000">
                <a:solidFill>
                  <a:srgbClr val="A8D8A8"/>
                </a:solidFill>
                <a:latin typeface="Consolas"/>
              </a:rPr>
              <a:t>  total{name!=''}[5m])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Membuat Panel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Step-by-step dari nol sampai dashboard jadi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669280" cy="153619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457200" cy="153619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  <a:latin typeface="Calibri"/>
              </a:rPr>
              <a:t>Buka Dashboard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3911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Grafana → Dashboards → New Dashboard → Add visualization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669280" cy="153619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457200" cy="1536192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  <a:latin typeface="Calibri"/>
              </a:rPr>
              <a:t>Pilih Data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Klik dropdown data source → pilih Prometheus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172968"/>
            <a:ext cx="5669280" cy="153619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172968"/>
            <a:ext cx="457200" cy="153619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6758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264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  <a:latin typeface="Calibri"/>
              </a:rPr>
              <a:t>Tulis Query PromQL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03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Masukkan query di tab Query. Contoh:
100 - (avg by (instance) (rate(node_cpu_seconds_total{mode='idle'}[2m])) * 100)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172968"/>
            <a:ext cx="5669280" cy="153619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172968"/>
            <a:ext cx="457200" cy="1536192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6758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2644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  <a:latin typeface="Calibri"/>
              </a:rPr>
              <a:t>Pilih Tipe Visualisasi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033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Panel kanan atas → pilih: Time series / Gauge / Stat / Bar chart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37176"/>
            <a:ext cx="5669280" cy="153619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837176"/>
            <a:ext cx="457200" cy="153619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3400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286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  <a:latin typeface="Calibri"/>
              </a:rPr>
              <a:t>Setting Unit &amp;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36752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Panel Options:
• Unit → Percent (0-100)  |  Min: 0  |  Max: 100
• Thresholds → 60=yellow, 80=red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837176"/>
            <a:ext cx="5669280" cy="153619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37176"/>
            <a:ext cx="457200" cy="1536192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34009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92861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A"/>
                </a:solidFill>
                <a:latin typeface="Calibri"/>
              </a:rPr>
              <a:t>Save &amp; Susun Layout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36752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Klik Save → drag-and-drop panel untuk atur tata letak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Contoh Panel Siap Pakai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5 panel dasar yang wajib ada di setiap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508760"/>
            <a:ext cx="2212848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508760"/>
            <a:ext cx="2212848" cy="34747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54533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Time Series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929384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A3A"/>
                </a:solidFill>
                <a:latin typeface="Calibri"/>
              </a:rPr>
              <a:t>CPU Usage Host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" y="2441448"/>
            <a:ext cx="2103120" cy="18288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" y="2441448"/>
            <a:ext cx="50800" cy="1828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984" y="2543048"/>
            <a:ext cx="1849120" cy="167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8D8A8"/>
                </a:solidFill>
                <a:latin typeface="Consolas"/>
              </a:rPr>
              <a:t>100 - (avg by (instance)</a:t>
            </a:r>
          </a:p>
          <a:p>
            <a:r>
              <a:rPr sz="850">
                <a:solidFill>
                  <a:srgbClr val="A8D8A8"/>
                </a:solidFill>
                <a:latin typeface="Consolas"/>
              </a:rPr>
              <a:t>  (rate(node_cpu_seconds_total</a:t>
            </a:r>
          </a:p>
          <a:p>
            <a:r>
              <a:rPr sz="850">
                <a:solidFill>
                  <a:srgbClr val="A8D8A8"/>
                </a:solidFill>
                <a:latin typeface="Consolas"/>
              </a:rPr>
              <a:t>  {mode='idle'}[2m])) * 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43434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A7A"/>
                </a:solidFill>
                <a:latin typeface="Calibri"/>
              </a:rPr>
              <a:t>Unit: Percent (0-100)
Threshold: 60=yellow, 80=red
Fill opacity: 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1508760"/>
            <a:ext cx="2212848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0" y="1508760"/>
            <a:ext cx="2212848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54533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Gauge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1929384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A3A"/>
                </a:solidFill>
                <a:latin typeface="Calibri"/>
              </a:rPr>
              <a:t>Memory Usage Host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33472" y="2441448"/>
            <a:ext cx="2103120" cy="18288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441448"/>
            <a:ext cx="50800" cy="1828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1272" y="2543048"/>
            <a:ext cx="1849120" cy="167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8D8A8"/>
                </a:solidFill>
                <a:latin typeface="Consolas"/>
              </a:rPr>
              <a:t>(1 - node_memory_MemAvailable_bytes</a:t>
            </a:r>
          </a:p>
          <a:p>
            <a:r>
              <a:rPr sz="850">
                <a:solidFill>
                  <a:srgbClr val="A8D8A8"/>
                </a:solidFill>
                <a:latin typeface="Consolas"/>
              </a:rPr>
              <a:t>  / node_memory_MemTotal_bytes) *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43434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A7A"/>
                </a:solidFill>
                <a:latin typeface="Calibri"/>
              </a:rPr>
              <a:t>Unit: Percent (0-100)
Min: 0  |  Max: 100
Threshold: 70=yellow, 90=red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4608" y="1508760"/>
            <a:ext cx="2212848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64608" y="1508760"/>
            <a:ext cx="2212848" cy="347472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154533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1929384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A3A"/>
                </a:solidFill>
                <a:latin typeface="Calibri"/>
              </a:rPr>
              <a:t>Container Running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2441448"/>
            <a:ext cx="2103120" cy="18288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0" y="2441448"/>
            <a:ext cx="50800" cy="1828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15560" y="2543048"/>
            <a:ext cx="1849120" cy="167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8D8A8"/>
                </a:solidFill>
                <a:latin typeface="Consolas"/>
              </a:rPr>
              <a:t>count(container_last_seen</a:t>
            </a:r>
          </a:p>
          <a:p>
            <a:r>
              <a:rPr sz="850">
                <a:solidFill>
                  <a:srgbClr val="A8D8A8"/>
                </a:solidFill>
                <a:latin typeface="Consolas"/>
              </a:rPr>
              <a:t>  {name!=""})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3434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A7A"/>
                </a:solidFill>
                <a:latin typeface="Calibri"/>
              </a:rPr>
              <a:t>Unit: short
Color mode: Background
Reduction: Last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68896" y="1508760"/>
            <a:ext cx="2212848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68896" y="1508760"/>
            <a:ext cx="2212848" cy="34747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42048" y="154533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Bar Chart (H)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048" y="1929384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A3A"/>
                </a:solidFill>
                <a:latin typeface="Calibri"/>
              </a:rPr>
              <a:t>RAM per Container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42048" y="2441448"/>
            <a:ext cx="2103120" cy="18288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42048" y="2441448"/>
            <a:ext cx="50800" cy="1828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19848" y="2543048"/>
            <a:ext cx="1849120" cy="167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8D8A8"/>
                </a:solidFill>
                <a:latin typeface="Consolas"/>
              </a:rPr>
              <a:t>topk(10, container_memory_usage_bytes</a:t>
            </a:r>
          </a:p>
          <a:p>
            <a:r>
              <a:rPr sz="850">
                <a:solidFill>
                  <a:srgbClr val="A8D8A8"/>
                </a:solidFill>
                <a:latin typeface="Consolas"/>
              </a:rPr>
              <a:t>  {name!=""}) / 1024 / 1024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048" y="43434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A7A"/>
                </a:solidFill>
                <a:latin typeface="Calibri"/>
              </a:rPr>
              <a:t>Unit: megabytes (MB)
Orientation: Horizontal
Legend: {{name}}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73184" y="1508760"/>
            <a:ext cx="2212848" cy="4983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73184" y="1508760"/>
            <a:ext cx="2212848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46336" y="1545336"/>
            <a:ext cx="2121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Time Series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46336" y="1929384"/>
            <a:ext cx="21214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A3A"/>
                </a:solidFill>
                <a:latin typeface="Calibri"/>
              </a:rPr>
              <a:t>Network In / Out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46336" y="2441448"/>
            <a:ext cx="2103120" cy="18288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46336" y="2441448"/>
            <a:ext cx="50800" cy="1828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24136" y="2543048"/>
            <a:ext cx="1849120" cy="167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A8D8A8"/>
                </a:solidFill>
                <a:latin typeface="Consolas"/>
              </a:rPr>
              <a:t>rate(node_network_receive_bytes_total</a:t>
            </a:r>
          </a:p>
          <a:p>
            <a:r>
              <a:rPr sz="850">
                <a:solidFill>
                  <a:srgbClr val="A8D8A8"/>
                </a:solidFill>
                <a:latin typeface="Consolas"/>
              </a:rPr>
              <a:t>  {device='eth0'}[5m]) / 1048576</a:t>
            </a:r>
          </a:p>
          <a:p>
            <a:r>
              <a:rPr sz="850">
                <a:solidFill>
                  <a:srgbClr val="A8D8A8"/>
                </a:solidFill>
                <a:latin typeface="Consolas"/>
              </a:rPr>
              <a:t>rate(...transmit...)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43434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A6A7A"/>
                </a:solidFill>
                <a:latin typeface="Calibri"/>
              </a:rPr>
              <a:t>Unit: megabytes/sec
2 query: A=Inbound, B=Outbound
Stack: 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Variable — Filter Dinamis di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Dashboard yang bisa difilter tanpa edit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Masalah: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6A7A"/>
                </a:solidFill>
                <a:latin typeface="Consolas"/>
              </a:rPr>
              <a:t>Query hardcoded: container_memory_usage_bytes{name="nginx"}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→ Setiap ganti container harus edit query. Tidak praktis.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11430000" cy="1905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Calibri"/>
              </a:rPr>
              <a:t>Solusi — Buat Variable: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11430000" cy="54864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3649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alibri"/>
              </a:rPr>
              <a:t>  1.  Dashboard Settings → Variables → Add variable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50208"/>
            <a:ext cx="11430000" cy="5486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onsolas"/>
              </a:rPr>
              <a:t>  2.  Name: container   |   Type: Query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08576"/>
            <a:ext cx="11430000" cy="548640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6817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onsolas"/>
              </a:rPr>
              <a:t>  3.  Query: label_values(container_memory_usage_bytes{name!=""}, name)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66944"/>
            <a:ext cx="11430000" cy="5486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34009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A3A"/>
                </a:solidFill>
                <a:latin typeface="Consolas"/>
              </a:rPr>
              <a:t>  4.  Pakai di query:  container_memory_usage_bytes{name="$container"}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447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Calibri"/>
              </a:rPr>
              <a:t>Hasilnya: dropdown muncul di atas dashboard → pilih container → semua panel ikut berubah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Unit Formatting &amp; Import Dashboard Siap Pakai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6A35"/>
                </a:solidFill>
                <a:latin typeface="Calibri"/>
              </a:rPr>
              <a:t>⚠  Selalu set Unit — angka raw tidak terbaca!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93392"/>
            <a:ext cx="5303520" cy="4160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A7A"/>
                </a:solidFill>
                <a:latin typeface="Calibri"/>
              </a:rPr>
              <a:t>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57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8BD4"/>
                </a:solidFill>
                <a:latin typeface="Consolas"/>
              </a:rPr>
              <a:t>bytes (IEC)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05740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52428800 → 50 MiB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157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A7A"/>
                </a:solidFill>
                <a:latin typeface="Calibri"/>
              </a:rPr>
              <a:t>Bytes/detik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157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8BD4"/>
                </a:solidFill>
                <a:latin typeface="Consolas"/>
              </a:rPr>
              <a:t>bytes/sec (IEC)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157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1048576 → 1 MiB/s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7413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A7A"/>
                </a:solidFill>
                <a:latin typeface="Calibri"/>
              </a:rPr>
              <a:t>Persen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741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8BD4"/>
                </a:solidFill>
                <a:latin typeface="Consolas"/>
              </a:rPr>
              <a:t>Percent (0-100)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37413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85.5 → 85.5%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3250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A7A"/>
                </a:solidFill>
                <a:latin typeface="Calibri"/>
              </a:rPr>
              <a:t>Detik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3250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8BD4"/>
                </a:solidFill>
                <a:latin typeface="Consolas"/>
              </a:rPr>
              <a:t>seconds (s)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03250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3600 → 1h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A7A"/>
                </a:solidFill>
                <a:latin typeface="Calibri"/>
              </a:rPr>
              <a:t>Milidetik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908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8BD4"/>
                </a:solidFill>
                <a:latin typeface="Consolas"/>
              </a:rPr>
              <a:t>milliseconds (ms)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6908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250 → 250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492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A6A7A"/>
                </a:solidFill>
                <a:latin typeface="Calibri"/>
              </a:rPr>
              <a:t>Angka biasa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3492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08BD4"/>
                </a:solidFill>
                <a:latin typeface="Consolas"/>
              </a:rPr>
              <a:t>short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53492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1234567 → 1.23M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5087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D4"/>
                </a:solidFill>
                <a:latin typeface="Calibri"/>
              </a:rPr>
              <a:t>Import Dashboard dari Grafana.com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103120"/>
            <a:ext cx="576072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2103120"/>
            <a:ext cx="777240" cy="10058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23591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1860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1945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A"/>
                </a:solidFill>
                <a:latin typeface="Calibri"/>
              </a:rPr>
              <a:t>Node Exporter Full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61518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Metrics host paling lengkap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246120"/>
            <a:ext cx="576072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3246120"/>
            <a:ext cx="777240" cy="10058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5021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3375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A"/>
                </a:solidFill>
                <a:latin typeface="Calibri"/>
              </a:rPr>
              <a:t>Docker 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75818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Metrics container dari cAdvisor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389120"/>
            <a:ext cx="5760720" cy="10058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35040" y="4389120"/>
            <a:ext cx="777240" cy="10058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46451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11600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4805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A"/>
                </a:solidFill>
                <a:latin typeface="Calibri"/>
              </a:rPr>
              <a:t>Docker &amp; System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490118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A7A"/>
                </a:solidFill>
                <a:latin typeface="Calibri"/>
              </a:rPr>
              <a:t>Kombinasi host + container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5778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E2A3A"/>
                </a:solidFill>
                <a:latin typeface="Calibri"/>
              </a:rPr>
              <a:t>Cara import: Dashboards → Import → masukkan ID → Load → pilih Prometheus → Import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Troubleshooting Umum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Masalah yang paling sering ditemui mahasiswa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51206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01752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Masalah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365760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08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Penyebab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1463040"/>
            <a:ext cx="4389120" cy="438912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Solusi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65960"/>
            <a:ext cx="11430000" cy="868680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3911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Target Prometheus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03911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Nama service salah di prometheus.yml,
atau container belum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39112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onsolas"/>
              </a:rPr>
              <a:t>Cek docker compose ps
Pastikan nama service sama persis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62072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35224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cAdvisor tidak baca container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935224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Permission ke /var/run/docker.sock
tidak 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935224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onsolas"/>
              </a:rPr>
              <a:t>Tambahkan user ke group docker,
atau jalankan sebagai root (dev)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58184"/>
            <a:ext cx="11430000" cy="868680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31336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Grafana tidak bisa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831336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URL data source pakai localhost
bukan nama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831336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onsolas"/>
              </a:rPr>
              <a:t>Ganti ke http://prometheus:9090
bukan http://localhost:9090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54296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2744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Data hilang saat restart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727448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Volume tidak didefinisikan
atau tidak di-mount dengan benar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727448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onsolas"/>
              </a:rPr>
              <a:t>Pastikan grafana_data dan prometheus_data
ada di bagian volumes: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50408"/>
            <a:ext cx="11430000" cy="868680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235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Node Exporter metric kosong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623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A3A"/>
                </a:solidFill>
                <a:latin typeface="Calibri"/>
              </a:rPr>
              <a:t>Flag --path.procfs tidak sesuai
path di dalam container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6235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  <a:latin typeface="Consolas"/>
              </a:rPr>
              <a:t>Cek command:
--path.procfs=/host/proc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Tugas /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Praktikum — kerjakan mandiri atau kelompok 2 orang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493776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BD4"/>
                </a:solidFill>
                <a:latin typeface="Calibri"/>
              </a:rPr>
              <a:t>✅  Minimum (Wajib)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Jalankan stack lengkap (semua 4 service)</a:t>
            </a:r>
          </a:p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Screenshot Targets Prometheus — semua UP</a:t>
            </a:r>
          </a:p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Import dashboard Node Exporter Full (ID: 1860)</a:t>
            </a:r>
          </a:p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Buat 1 dashboard custom:
  • Panel CPU usage (Time Series)
  • Panel Memory usage (Gauge)
  • 1 panel pilihan sendiri</a:t>
            </a:r>
          </a:p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Kumpulkan: screenshot + file docker-compose.yml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760720" cy="4937760"/>
          </a:xfrm>
          <a:prstGeom prst="rect">
            <a:avLst/>
          </a:prstGeom>
          <a:solidFill>
            <a:srgbClr val="FD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5727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6A35"/>
                </a:solidFill>
                <a:latin typeface="Calibri"/>
              </a:rPr>
              <a:t>⭐  Bonus (Nilai Tambah)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0574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Tambahkan alerting rule di Prometheus
  (misal: alert jika CPU &gt; 80%)</a:t>
            </a:r>
          </a:p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Tambahkan container aplikasi sendiri
  (web server, database) dan monitor</a:t>
            </a:r>
          </a:p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Deploy ke VM cloud (bukan laptop)
  dan akses via IP publik</a:t>
            </a:r>
          </a:p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Gunakan variable dropdown
  untuk filter per container</a:t>
            </a:r>
          </a:p>
          <a:p>
            <a:pPr>
              <a:spcBef>
                <a:spcPts val="160"/>
              </a:spcBef>
            </a:pPr>
            <a:r>
              <a:rPr sz="1350">
                <a:solidFill>
                  <a:srgbClr val="1E2A3A"/>
                </a:solidFill>
                <a:latin typeface="Calibri"/>
              </a:rPr>
              <a:t>Tambahkan Loki + Promtail untuk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A7A"/>
                </a:solidFill>
                <a:latin typeface="Calibri"/>
              </a:rPr>
              <a:t>Deadline: ___________________    Format pengumpulan: ZIP / repo GitHub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659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Quiz Kilat — 5 Menit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8E8"/>
                </a:solidFill>
                <a:latin typeface="Calibri"/>
              </a:rPr>
              <a:t>Jawab tanpa buka catatan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11430000" cy="868680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94360" cy="86868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8191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3A"/>
                </a:solidFill>
                <a:latin typeface="Calibri"/>
              </a:rPr>
              <a:t>Apa perbedaan utama cAdvisor vs Node Exporter?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A7A"/>
                </a:solidFill>
                <a:latin typeface="Calibri"/>
              </a:rPr>
              <a:t>Hint: Scope: per container vs seluruh host/OS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59736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59736"/>
            <a:ext cx="594360" cy="86868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88336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3288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3A"/>
                </a:solidFill>
                <a:latin typeface="Calibri"/>
              </a:rPr>
              <a:t>Kenapa Prometheus pakai model pull, bukan push?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900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A7A"/>
                </a:solidFill>
                <a:latin typeface="Calibri"/>
              </a:rPr>
              <a:t>Hint: Lebih mudah scale, exporter tidak perlu tahu ke mana kirim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10712"/>
            <a:ext cx="11430000" cy="868680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410712"/>
            <a:ext cx="594360" cy="86868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39312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48386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3A"/>
                </a:solidFill>
                <a:latin typeface="Calibri"/>
              </a:rPr>
              <a:t>Kenapa URL Grafana → Prometheus pakai nama service, bukan localhost?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9410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A7A"/>
                </a:solidFill>
                <a:latin typeface="Calibri"/>
              </a:rPr>
              <a:t>Hint: Container punya network sendiri, localhost = container itu sendiri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61688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361688"/>
            <a:ext cx="594360" cy="86868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9028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4348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3A"/>
                </a:solidFill>
                <a:latin typeface="Calibri"/>
              </a:rPr>
              <a:t>Apa fungsi named volume seperti grafana_data?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892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A7A"/>
                </a:solidFill>
                <a:latin typeface="Calibri"/>
              </a:rPr>
              <a:t>Hint: Data persisten — tidak hilang saat container restart / recreate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12664"/>
            <a:ext cx="11430000" cy="868680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312664"/>
            <a:ext cx="594360" cy="86868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541264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8581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3A"/>
                </a:solidFill>
                <a:latin typeface="Calibri"/>
              </a:rPr>
              <a:t>Sebutkan 3 Pillars of Observability beserta toolnya!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8430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A7A"/>
                </a:solidFill>
                <a:latin typeface="Calibri"/>
              </a:rPr>
              <a:t>Hint: Metrics (Prometheus), Logs (Loki), Traces (Tempo/Jaeger)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381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Kesimpulan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20040" cy="5486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161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8BD4"/>
                </a:solidFill>
                <a:latin typeface="Calibri"/>
              </a:rPr>
              <a:t>cAdvisor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34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  <a:latin typeface="Calibri"/>
              </a:rPr>
              <a:t>Metrics per container — CPU, RAM, network masing-masing container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20040" cy="548640"/>
          </a:xfrm>
          <a:prstGeom prst="rect">
            <a:avLst/>
          </a:prstGeom>
          <a:solidFill>
            <a:srgbClr val="1A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8CFF"/>
                </a:solidFill>
                <a:latin typeface="Calibri"/>
              </a:rPr>
              <a:t>Node Exporter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  <a:latin typeface="Calibri"/>
              </a:rPr>
              <a:t>Metrics level OS/host — CPU, disk, network seluruh mesin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320040" cy="548640"/>
          </a:xfrm>
          <a:prstGeom prst="rect">
            <a:avLst/>
          </a:prstGeom>
          <a:solidFill>
            <a:srgbClr val="F06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06A35"/>
                </a:solidFill>
                <a:latin typeface="Calibri"/>
              </a:rPr>
              <a:t>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788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  <a:latin typeface="Calibri"/>
              </a:rPr>
              <a:t>Time-series DB + scraper + PromQL — otak dari seluruh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32004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478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27AE60"/>
                </a:solidFill>
                <a:latin typeface="Calibri"/>
              </a:rPr>
              <a:t>Grafana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661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  <a:latin typeface="Calibri"/>
              </a:rPr>
              <a:t>Visualisasi dashboard interaktif — dari angka menjadi insight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51960"/>
            <a:ext cx="32004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251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39C12"/>
                </a:solidFill>
                <a:latin typeface="Calibri"/>
              </a:rPr>
              <a:t>Docker Compose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343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  <a:latin typeface="Calibri"/>
              </a:rPr>
              <a:t>Satu file YAML untuk jalankan semua service sekaligus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solidFill>
            <a:srgbClr val="00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"Monitoring bukan opsional — ini kebutuhan wajib sistem production."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BBDD"/>
                </a:solidFill>
                <a:latin typeface="Calibri"/>
              </a:rPr>
              <a:t>Stack Prometheus + Grafana adalah standar industri — digunakan di ribuan perusahaan global.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C8E8"/>
                </a:solidFill>
                <a:latin typeface="Calibri"/>
              </a:rPr>
              <a:t>Ada pertanyaan?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457200"/>
            <a:ext cx="5394960" cy="5943600"/>
          </a:xfrm>
          <a:prstGeom prst="rect">
            <a:avLst/>
          </a:prstGeom>
          <a:solidFill>
            <a:srgbClr val="12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594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D4"/>
                </a:solidFill>
                <a:latin typeface="Calibri"/>
              </a:rPr>
              <a:t>Referensi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051560"/>
            <a:ext cx="5029200" cy="1905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0BBDD"/>
                </a:solidFill>
                <a:latin typeface="Calibri"/>
              </a:rPr>
              <a:t>• prometheus.io/docs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470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0BBDD"/>
                </a:solidFill>
                <a:latin typeface="Calibri"/>
              </a:rPr>
              <a:t>• grafana.com/docs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0545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0BBDD"/>
                </a:solidFill>
                <a:latin typeface="Calibri"/>
              </a:rPr>
              <a:t>• github.com/google/cadvisor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638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0BBDD"/>
                </a:solidFill>
                <a:latin typeface="Calibri"/>
              </a:rPr>
              <a:t>• github.com/prometheus/node_exporter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221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0BBDD"/>
                </a:solidFill>
                <a:latin typeface="Calibri"/>
              </a:rPr>
              <a:t>• grafana.com/grafana/dashboards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0BBDD"/>
                </a:solidFill>
                <a:latin typeface="Calibri"/>
              </a:rPr>
              <a:t>• promlabs.com/promql-cheat-sheet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1389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90BBDD"/>
                </a:solidFill>
                <a:latin typeface="Calibri"/>
              </a:rPr>
              <a:t>• Buku: Prometheus Up &amp; Running — O'Reilly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8BD4"/>
                </a:solidFill>
                <a:latin typeface="Calibri"/>
              </a:rPr>
              <a:t>Terima kasih!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0B0D0"/>
                </a:solidFill>
                <a:latin typeface="Calibri"/>
              </a:rPr>
              <a:t>Selamat praktikum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